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A5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724A"/>
                </a:solidFill>
                <a:latin typeface="Calibri"/>
              </a:defRPr>
            </a:pPr>
            <a:r>
              <a:t>PRESENTAZIONE SITO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373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1D5C38"/>
                </a:solidFill>
                <a:latin typeface="Calibri"/>
              </a:defRPr>
            </a:pPr>
            <a:r>
              <a:t>Herbora — Erboristeria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5A6B5C"/>
                </a:solidFill>
                <a:latin typeface="Calibri"/>
              </a:defRPr>
            </a:pPr>
            <a:r>
              <a:t>Un sito su misura vs WordPress: perché la differenza conta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931920"/>
            <a:ext cx="2743200" cy="45720"/>
          </a:xfrm>
          <a:prstGeom prst="rect">
            <a:avLst/>
          </a:prstGeom>
          <a:solidFill>
            <a:srgbClr val="C47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A6B5C"/>
                </a:solidFill>
                <a:latin typeface="Calibri"/>
              </a:defRPr>
            </a:pPr>
            <a:r>
              <a:t>Sviluppato da Enrico Maria Caruso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C5A0"/>
                </a:solidFill>
                <a:latin typeface="Calibri"/>
              </a:defRPr>
            </a:pPr>
            <a:r>
              <a:t>enricomariacaruso.it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828800"/>
            <a:ext cx="36576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1031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E7D50"/>
                </a:solidFill>
                <a:latin typeface="Calibri"/>
              </a:defRPr>
            </a:pPr>
            <a:r>
              <a:t>herboralab.it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7432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A6B5C"/>
                </a:solidFill>
                <a:latin typeface="Calibri"/>
              </a:defRPr>
            </a:pPr>
            <a:r>
              <a:t>Sito vetrina one-page</a:t>
            </a:r>
            <a:br/>
            <a:r>
              <a:t>HTML5 + CSS3 + JavaScript</a:t>
            </a:r>
            <a:br/>
            <a:r>
              <a:t>Nessun CMS, nessun plugin</a:t>
            </a:r>
            <a:br/>
            <a:r>
              <a:t>100% codice proprietario</a:t>
            </a:r>
            <a:br/>
            <a:r>
              <a:t>Ottimizzato per performance</a:t>
            </a:r>
            <a:br/>
            <a:r>
              <a:t>e conversione clienti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47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5C38"/>
                </a:solidFill>
                <a:latin typeface="Calibri"/>
              </a:defRPr>
            </a:pPr>
            <a:r>
              <a:t>Il problema dei siti WordPress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A6B5C"/>
                </a:solidFill>
                <a:latin typeface="Calibri"/>
              </a:defRPr>
            </a:pPr>
            <a:r>
              <a:t>Perché un sito WordPress generico non è la scelta migliore per un'attività come Herbora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2011680"/>
          </a:xfrm>
          <a:prstGeom prst="roundRect">
            <a:avLst/>
          </a:prstGeom>
          <a:solidFill>
            <a:srgbClr val="FDF0ED"/>
          </a:solidFill>
          <a:ln w="19050">
            <a:solidFill>
              <a:srgbClr val="C47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  <a:latin typeface="Calibri"/>
              </a:defRPr>
            </a:pPr>
            <a:r>
              <a:t>⚠️  Lentezza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3B2E"/>
                </a:solidFill>
                <a:latin typeface="Calibri"/>
              </a:defRPr>
            </a:pPr>
            <a:r>
              <a:t>WordPress carica 30-80 file tra plugin,</a:t>
            </a:r>
            <a:br/>
            <a:r>
              <a:t>temi e script. Tempi di caricamento</a:t>
            </a:r>
            <a:br/>
            <a:r>
              <a:t>di 4-8 secondi = clienti persi.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37360"/>
            <a:ext cx="5120640" cy="2011680"/>
          </a:xfrm>
          <a:prstGeom prst="roundRect">
            <a:avLst/>
          </a:prstGeom>
          <a:solidFill>
            <a:srgbClr val="FDF0ED"/>
          </a:solidFill>
          <a:ln w="19050">
            <a:solidFill>
              <a:srgbClr val="C47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011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  <a:latin typeface="Calibri"/>
              </a:defRPr>
            </a:pPr>
            <a:r>
              <a:t>🔓  Vulnerabilità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5603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3B2E"/>
                </a:solidFill>
                <a:latin typeface="Calibri"/>
              </a:defRPr>
            </a:pPr>
            <a:r>
              <a:t>Il 43% dei siti hackerati usa WordPress.</a:t>
            </a:r>
            <a:br/>
            <a:r>
              <a:t>Plugin non aggiornati = porta aperta</a:t>
            </a:r>
            <a:br/>
            <a:r>
              <a:t>per attacchi e malware.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FDF0ED"/>
          </a:solidFill>
          <a:ln w="19050">
            <a:solidFill>
              <a:srgbClr val="C47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389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  <a:latin typeface="Calibri"/>
              </a:defRPr>
            </a:pPr>
            <a:r>
              <a:t>📦  Pesantezza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93776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3B2E"/>
                </a:solidFill>
                <a:latin typeface="Calibri"/>
              </a:defRPr>
            </a:pPr>
            <a:r>
              <a:t>Temi generici con migliaia di funzioni</a:t>
            </a:r>
            <a:br/>
            <a:r>
              <a:t>inutili. Il 90% del codice caricato</a:t>
            </a:r>
            <a:br/>
            <a:r>
              <a:t>non serve al tuo sito.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114800"/>
            <a:ext cx="5120640" cy="2011680"/>
          </a:xfrm>
          <a:prstGeom prst="roundRect">
            <a:avLst/>
          </a:prstGeom>
          <a:solidFill>
            <a:srgbClr val="FDF0ED"/>
          </a:solidFill>
          <a:ln w="19050">
            <a:solidFill>
              <a:srgbClr val="C47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4389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  <a:latin typeface="Calibri"/>
              </a:defRPr>
            </a:pPr>
            <a:r>
              <a:t>🔧  Manutenzione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93776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3B2E"/>
                </a:solidFill>
                <a:latin typeface="Calibri"/>
              </a:defRPr>
            </a:pPr>
            <a:r>
              <a:t>Aggiornamenti continui di WP, tema</a:t>
            </a:r>
            <a:br/>
            <a:r>
              <a:t>e plugin. Incompatibilità frequenti</a:t>
            </a:r>
            <a:br/>
            <a:r>
              <a:t>che rompono il sito.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5C38"/>
                </a:solidFill>
                <a:latin typeface="Calibri"/>
              </a:defRPr>
            </a:pPr>
            <a:r>
              <a:t>La soluzione: un sito su misura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A6B5C"/>
                </a:solidFill>
                <a:latin typeface="Calibri"/>
              </a:defRPr>
            </a:pPr>
            <a:r>
              <a:t>Herbora merita un sito unico come i suoi prodotti: codice scritto a mano, zero sprechi, massime prestazioni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50"/>
                </a:solidFill>
                <a:latin typeface="Calibri"/>
              </a:defRPr>
            </a:pPr>
            <a:r>
              <a:t>⚡  Ultra-veloce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603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3B2E"/>
                </a:solidFill>
                <a:latin typeface="Calibri"/>
              </a:defRPr>
            </a:pPr>
            <a:r>
              <a:t>Solo 3 file (HTML, CSS, JS) contro</a:t>
            </a:r>
            <a:br/>
            <a:r>
              <a:t>30-80 di WordPress. Caricamento</a:t>
            </a:r>
            <a:br/>
            <a:r>
              <a:t>in meno di 1 secondo.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3736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011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50"/>
                </a:solidFill>
                <a:latin typeface="Calibri"/>
              </a:defRPr>
            </a:pPr>
            <a:r>
              <a:t>🛡️  Sicuro al 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5603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3B2E"/>
                </a:solidFill>
                <a:latin typeface="Calibri"/>
              </a:defRPr>
            </a:pPr>
            <a:r>
              <a:t>Nessun database, nessun login admin,</a:t>
            </a:r>
            <a:br/>
            <a:r>
              <a:t>nessun plugin vulnerabile. Zero</a:t>
            </a:r>
            <a:br/>
            <a:r>
              <a:t>superficie di attacco.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389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50"/>
                </a:solidFill>
                <a:latin typeface="Calibri"/>
              </a:defRPr>
            </a:pPr>
            <a:r>
              <a:t>🎨  Design unico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93776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3B2E"/>
                </a:solidFill>
                <a:latin typeface="Calibri"/>
              </a:defRPr>
            </a:pPr>
            <a:r>
              <a:t>Ogni pixel è pensato per Herbora.</a:t>
            </a:r>
            <a:br/>
            <a:r>
              <a:t>Nessun template condiviso con</a:t>
            </a:r>
            <a:br/>
            <a:r>
              <a:t>migliaia di altri siti.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11480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4389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50"/>
                </a:solidFill>
                <a:latin typeface="Calibri"/>
              </a:defRPr>
            </a:pPr>
            <a:r>
              <a:t>💰  Zero costi ricorrenti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93776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3B2E"/>
                </a:solidFill>
                <a:latin typeface="Calibri"/>
              </a:defRPr>
            </a:pPr>
            <a:r>
              <a:t>Nessun hosting WordPress, nessun</a:t>
            </a:r>
            <a:br/>
            <a:r>
              <a:t>rinnovo tema/plugin premium.</a:t>
            </a:r>
            <a:br/>
            <a:r>
              <a:t>Solo hosting statico (gratis o pochi €/anno).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D5C38"/>
                </a:solidFill>
                <a:latin typeface="Calibri"/>
              </a:defRPr>
            </a:pPr>
            <a:r>
              <a:t>Confronto diretto: WordPress vs Herbora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A6B5C"/>
                </a:solidFill>
                <a:latin typeface="Calibri"/>
              </a:defRPr>
            </a:pPr>
            <a:r>
              <a:t>Caratteristica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005840"/>
            <a:ext cx="3840480" cy="4572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❌  Sito WordPress generico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005840"/>
            <a:ext cx="4206240" cy="457200"/>
          </a:xfrm>
          <a:prstGeom prst="round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✅  Sito Herbora su misura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B2E"/>
                </a:solidFill>
                <a:latin typeface="Calibri"/>
              </a:defRPr>
            </a:pPr>
            <a:r>
              <a:t>Velocità caricamento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554480"/>
            <a:ext cx="3840480" cy="45720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C0392B"/>
                </a:solidFill>
                <a:latin typeface="Calibri"/>
              </a:defRPr>
            </a:pPr>
            <a:r>
              <a:t>3-8 secondi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554480"/>
            <a:ext cx="4206240" cy="4572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E7D50"/>
                </a:solidFill>
                <a:latin typeface="Calibri"/>
              </a:defRPr>
            </a:pPr>
            <a:r>
              <a:t>&lt; 1 secondo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B2E"/>
                </a:solidFill>
                <a:latin typeface="Calibri"/>
              </a:defRPr>
            </a:pPr>
            <a:r>
              <a:t>File caricati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057400"/>
            <a:ext cx="3840480" cy="45720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C0392B"/>
                </a:solidFill>
                <a:latin typeface="Calibri"/>
              </a:defRPr>
            </a:pPr>
            <a:r>
              <a:t>30-80 file (plugin, temi, script)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2057400"/>
            <a:ext cx="4206240" cy="4572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E7D50"/>
                </a:solidFill>
                <a:latin typeface="Calibri"/>
              </a:defRPr>
            </a:pPr>
            <a:r>
              <a:t>3 file (HTML + CSS + JS)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B2E"/>
                </a:solidFill>
                <a:latin typeface="Calibri"/>
              </a:defRPr>
            </a:pPr>
            <a:r>
              <a:t>Sicurezza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2560320"/>
            <a:ext cx="3840480" cy="45720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C0392B"/>
                </a:solidFill>
                <a:latin typeface="Calibri"/>
              </a:defRPr>
            </a:pPr>
            <a:r>
              <a:t>Vulnerabile (database + login admin)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2560320"/>
            <a:ext cx="4206240" cy="4572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E7D50"/>
                </a:solidFill>
                <a:latin typeface="Calibri"/>
              </a:defRPr>
            </a:pPr>
            <a:r>
              <a:t>Invulnerabile (sito statico, no DB)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63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B2E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3063240"/>
            <a:ext cx="3840480" cy="45720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C0392B"/>
                </a:solidFill>
                <a:latin typeface="Calibri"/>
              </a:defRPr>
            </a:pPr>
            <a:r>
              <a:t>Template condiviso con migliaia di siti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3063240"/>
            <a:ext cx="4206240" cy="4572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E7D50"/>
                </a:solidFill>
                <a:latin typeface="Calibri"/>
              </a:defRPr>
            </a:pPr>
            <a:r>
              <a:t>Design esclusivo, scritto a mano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B2E"/>
                </a:solidFill>
                <a:latin typeface="Calibri"/>
              </a:defRPr>
            </a:pPr>
            <a:r>
              <a:t>SEO / Google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3566160"/>
            <a:ext cx="3840480" cy="45720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C0392B"/>
                </a:solidFill>
                <a:latin typeface="Calibri"/>
              </a:defRPr>
            </a:pPr>
            <a:r>
              <a:t>Codice sporco, lento = penalizzato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3566160"/>
            <a:ext cx="4206240" cy="4572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E7D50"/>
                </a:solidFill>
                <a:latin typeface="Calibri"/>
              </a:defRPr>
            </a:pPr>
            <a:r>
              <a:t>Codice pulito, veloce = premiato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69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B2E"/>
                </a:solidFill>
                <a:latin typeface="Calibri"/>
              </a:defRPr>
            </a:pPr>
            <a:r>
              <a:t>Aggiornamenti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4069080"/>
            <a:ext cx="3840480" cy="45720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C0392B"/>
                </a:solidFill>
                <a:latin typeface="Calibri"/>
              </a:defRPr>
            </a:pPr>
            <a:r>
              <a:t>WP + tema + plugin = rischio rotture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4069080"/>
            <a:ext cx="4206240" cy="4572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E7D50"/>
                </a:solidFill>
                <a:latin typeface="Calibri"/>
              </a:defRPr>
            </a:pPr>
            <a:r>
              <a:t>Nessuno necessario, sempre stabile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B2E"/>
                </a:solidFill>
                <a:latin typeface="Calibri"/>
              </a:defRPr>
            </a:pPr>
            <a:r>
              <a:t>Costo hosting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4572000"/>
            <a:ext cx="3840480" cy="45720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C0392B"/>
                </a:solidFill>
                <a:latin typeface="Calibri"/>
              </a:defRPr>
            </a:pPr>
            <a:r>
              <a:t>10-30€/mese (hosting WP)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4572000"/>
            <a:ext cx="4206240" cy="4572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E7D50"/>
                </a:solidFill>
                <a:latin typeface="Calibri"/>
              </a:defRPr>
            </a:pPr>
            <a:r>
              <a:t>0-5€/mese (hosting statico / GitHub)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74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B2E"/>
                </a:solidFill>
                <a:latin typeface="Calibri"/>
              </a:defRPr>
            </a:pPr>
            <a:r>
              <a:t>Mobile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5074920"/>
            <a:ext cx="3840480" cy="45720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C0392B"/>
                </a:solidFill>
                <a:latin typeface="Calibri"/>
              </a:defRPr>
            </a:pPr>
            <a:r>
              <a:t>Dipende dal tema (spesso mediocre)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5074920"/>
            <a:ext cx="4206240" cy="4572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E7D50"/>
                </a:solidFill>
                <a:latin typeface="Calibri"/>
              </a:defRPr>
            </a:pPr>
            <a:r>
              <a:t>Responsive nativo, testato su ogni device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577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B2E"/>
                </a:solidFill>
                <a:latin typeface="Calibri"/>
              </a:defRPr>
            </a:pPr>
            <a:r>
              <a:t>GDPR / Cookie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0" y="5577840"/>
            <a:ext cx="3840480" cy="45720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C0392B"/>
                </a:solidFill>
                <a:latin typeface="Calibri"/>
              </a:defRPr>
            </a:pPr>
            <a:r>
              <a:t>Plugin extra (spesso a pagamento)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60" y="5577840"/>
            <a:ext cx="4206240" cy="4572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E7D50"/>
                </a:solidFill>
                <a:latin typeface="Calibri"/>
              </a:defRPr>
            </a:pPr>
            <a:r>
              <a:t>Integrato nativamente nel codice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080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3B2E"/>
                </a:solidFill>
                <a:latin typeface="Calibri"/>
              </a:defRPr>
            </a:pPr>
            <a:r>
              <a:t>Proprietà codice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0400" y="6080760"/>
            <a:ext cx="3840480" cy="45720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C0392B"/>
                </a:solidFill>
                <a:latin typeface="Calibri"/>
              </a:defRPr>
            </a:pPr>
            <a:r>
              <a:t>Dipendi dal tema/plugin di terzi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23760" y="6080760"/>
            <a:ext cx="4206240" cy="4572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E7D50"/>
                </a:solidFill>
                <a:latin typeface="Calibri"/>
              </a:defRPr>
            </a:pPr>
            <a:r>
              <a:t>100% tuo, codice proprietario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5C38"/>
                </a:solidFill>
                <a:latin typeface="Calibri"/>
              </a:defRPr>
            </a:pPr>
            <a:r>
              <a:t>Performance: i numeri parlano chiaro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A6B5C"/>
                </a:solidFill>
                <a:latin typeface="Calibri"/>
              </a:defRPr>
            </a:pPr>
            <a:r>
              <a:t>Google penalizza i siti lenti. Ogni secondo in più di caricamento = -7% conversioni (fonte: Google)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Calibri"/>
              </a:defRPr>
            </a:pPr>
            <a:r>
              <a:t>❌  WordPress medio (Lighthouse Score)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286000"/>
            <a:ext cx="1005840" cy="1005840"/>
          </a:xfrm>
          <a:prstGeom prst="ellipse">
            <a:avLst/>
          </a:prstGeom>
          <a:solidFill>
            <a:srgbClr val="FDEDED"/>
          </a:solidFill>
          <a:ln w="381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C0392B"/>
                </a:solidFill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6B5C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9" name="Oval 8"/>
          <p:cNvSpPr/>
          <p:nvPr/>
        </p:nvSpPr>
        <p:spPr>
          <a:xfrm>
            <a:off x="2240280" y="2286000"/>
            <a:ext cx="1005840" cy="1005840"/>
          </a:xfrm>
          <a:prstGeom prst="ellipse">
            <a:avLst/>
          </a:prstGeom>
          <a:solidFill>
            <a:srgbClr val="FDEDED"/>
          </a:solidFill>
          <a:ln w="381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C0392B"/>
                </a:solidFill>
              </a:rPr>
              <a:t>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33832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6B5C"/>
                </a:solidFill>
                <a:latin typeface="Calibri"/>
              </a:defRPr>
            </a:pPr>
            <a:r>
              <a:t>Accessibilità</a:t>
            </a:r>
          </a:p>
        </p:txBody>
      </p:sp>
      <p:sp>
        <p:nvSpPr>
          <p:cNvPr id="11" name="Oval 10"/>
          <p:cNvSpPr/>
          <p:nvPr/>
        </p:nvSpPr>
        <p:spPr>
          <a:xfrm>
            <a:off x="3566160" y="2286000"/>
            <a:ext cx="1005840" cy="1005840"/>
          </a:xfrm>
          <a:prstGeom prst="ellipse">
            <a:avLst/>
          </a:prstGeom>
          <a:solidFill>
            <a:srgbClr val="FDEDED"/>
          </a:solidFill>
          <a:ln w="381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C0392B"/>
                </a:solidFill>
              </a:rPr>
              <a:t>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3832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6B5C"/>
                </a:solidFill>
                <a:latin typeface="Calibri"/>
              </a:defRPr>
            </a:pPr>
            <a:r>
              <a:t>Best Practices</a:t>
            </a:r>
          </a:p>
        </p:txBody>
      </p:sp>
      <p:sp>
        <p:nvSpPr>
          <p:cNvPr id="13" name="Oval 12"/>
          <p:cNvSpPr/>
          <p:nvPr/>
        </p:nvSpPr>
        <p:spPr>
          <a:xfrm>
            <a:off x="4892040" y="2286000"/>
            <a:ext cx="1005840" cy="1005840"/>
          </a:xfrm>
          <a:prstGeom prst="ellipse">
            <a:avLst/>
          </a:prstGeom>
          <a:solidFill>
            <a:srgbClr val="FDEDED"/>
          </a:solidFill>
          <a:ln w="381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C0392B"/>
                </a:solidFill>
              </a:rPr>
              <a:t>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3832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6B5C"/>
                </a:solidFill>
                <a:latin typeface="Calibri"/>
              </a:defRPr>
            </a:pPr>
            <a:r>
              <a:t>SEO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50"/>
                </a:solidFill>
                <a:latin typeface="Calibri"/>
              </a:defRPr>
            </a:pPr>
            <a:r>
              <a:t>✅  Sito Herbora (Lighthouse Score)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0" y="2286000"/>
            <a:ext cx="1005840" cy="1005840"/>
          </a:xfrm>
          <a:prstGeom prst="ellipse">
            <a:avLst/>
          </a:prstGeom>
          <a:solidFill>
            <a:srgbClr val="E8F5E9"/>
          </a:solidFill>
          <a:ln w="38100"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E7D50"/>
                </a:solidFill>
              </a:rPr>
              <a:t>95+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3832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6B5C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18" name="Oval 17"/>
          <p:cNvSpPr/>
          <p:nvPr/>
        </p:nvSpPr>
        <p:spPr>
          <a:xfrm>
            <a:off x="7909560" y="2286000"/>
            <a:ext cx="1005840" cy="1005840"/>
          </a:xfrm>
          <a:prstGeom prst="ellipse">
            <a:avLst/>
          </a:prstGeom>
          <a:solidFill>
            <a:srgbClr val="E8F5E9"/>
          </a:solidFill>
          <a:ln w="38100"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E7D50"/>
                </a:solidFill>
              </a:rPr>
              <a:t>92+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33832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6B5C"/>
                </a:solidFill>
                <a:latin typeface="Calibri"/>
              </a:defRPr>
            </a:pPr>
            <a:r>
              <a:t>Accessibilità</a:t>
            </a:r>
          </a:p>
        </p:txBody>
      </p:sp>
      <p:sp>
        <p:nvSpPr>
          <p:cNvPr id="20" name="Oval 19"/>
          <p:cNvSpPr/>
          <p:nvPr/>
        </p:nvSpPr>
        <p:spPr>
          <a:xfrm>
            <a:off x="9235440" y="2286000"/>
            <a:ext cx="1005840" cy="1005840"/>
          </a:xfrm>
          <a:prstGeom prst="ellipse">
            <a:avLst/>
          </a:prstGeom>
          <a:solidFill>
            <a:srgbClr val="E8F5E9"/>
          </a:solidFill>
          <a:ln w="38100"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E7D50"/>
                </a:solidFill>
              </a:rPr>
              <a:t>95+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3832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6B5C"/>
                </a:solidFill>
                <a:latin typeface="Calibri"/>
              </a:defRPr>
            </a:pPr>
            <a:r>
              <a:t>Best Practices</a:t>
            </a:r>
          </a:p>
        </p:txBody>
      </p:sp>
      <p:sp>
        <p:nvSpPr>
          <p:cNvPr id="22" name="Oval 21"/>
          <p:cNvSpPr/>
          <p:nvPr/>
        </p:nvSpPr>
        <p:spPr>
          <a:xfrm>
            <a:off x="10561320" y="2286000"/>
            <a:ext cx="1005840" cy="1005840"/>
          </a:xfrm>
          <a:prstGeom prst="ellipse">
            <a:avLst/>
          </a:prstGeom>
          <a:solidFill>
            <a:srgbClr val="E8F5E9"/>
          </a:solidFill>
          <a:ln w="38100"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2E7D50"/>
                </a:solidFill>
              </a:rPr>
              <a:t>95+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33832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6B5C"/>
                </a:solidFill>
                <a:latin typeface="Calibri"/>
              </a:defRPr>
            </a:pPr>
            <a:r>
              <a:t>SEO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114800"/>
            <a:ext cx="10698480" cy="45720"/>
          </a:xfrm>
          <a:prstGeom prst="rect">
            <a:avLst/>
          </a:prstGeom>
          <a:solidFill>
            <a:srgbClr val="A8C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438912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480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50"/>
                </a:solidFill>
                <a:latin typeface="Calibri"/>
              </a:defRPr>
            </a:pPr>
            <a:r>
              <a:t>🚀  Tempo di caricamento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9377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3B2E"/>
                </a:solidFill>
                <a:latin typeface="Calibri"/>
              </a:defRPr>
            </a:pPr>
            <a:r>
              <a:t>WordPress: 4-8 sec</a:t>
            </a:r>
            <a:br/>
            <a:r>
              <a:t>Herbora: &lt; 1 sec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669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4724A"/>
                </a:solidFill>
                <a:latin typeface="Calibri"/>
              </a:defRPr>
            </a:pPr>
            <a:r>
              <a:t>I visitatori abbandonano</a:t>
            </a:r>
            <a:br/>
            <a:r>
              <a:t>dopo 3 secondi di attesa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59" y="438912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79" y="4480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50"/>
                </a:solidFill>
                <a:latin typeface="Calibri"/>
              </a:defRPr>
            </a:pPr>
            <a:r>
              <a:t>📱  Mobile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79" y="49377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3B2E"/>
                </a:solidFill>
                <a:latin typeface="Calibri"/>
              </a:defRPr>
            </a:pPr>
            <a:r>
              <a:t>WordPress: ~50/100</a:t>
            </a:r>
            <a:br/>
            <a:r>
              <a:t>Herbora: 95+/100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79" y="5669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4724A"/>
                </a:solidFill>
                <a:latin typeface="Calibri"/>
              </a:defRPr>
            </a:pPr>
            <a:r>
              <a:t>Il 65% del traffico</a:t>
            </a:r>
            <a:br/>
            <a:r>
              <a:t>viene da smartphone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4389120"/>
            <a:ext cx="33832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4480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50"/>
                </a:solidFill>
                <a:latin typeface="Calibri"/>
              </a:defRPr>
            </a:pPr>
            <a:r>
              <a:t>📈  Impatto su Google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9377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3B2E"/>
                </a:solidFill>
                <a:latin typeface="Calibri"/>
              </a:defRPr>
            </a:pPr>
            <a:r>
              <a:t>WordPress: penalizzato</a:t>
            </a:r>
            <a:br/>
            <a:r>
              <a:t>Herbora: premiato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5669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4724A"/>
                </a:solidFill>
                <a:latin typeface="Calibri"/>
              </a:defRPr>
            </a:pPr>
            <a:r>
              <a:t>Siti veloci = posizioni</a:t>
            </a:r>
            <a:br/>
            <a:r>
              <a:t>più alte su Google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5C38"/>
                </a:solidFill>
                <a:latin typeface="Calibri"/>
              </a:defRPr>
            </a:pPr>
            <a:r>
              <a:t>Cosa include il sito Herbora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A6B5C"/>
                </a:solidFill>
                <a:latin typeface="Calibri"/>
              </a:defRPr>
            </a:pPr>
            <a:r>
              <a:t>Ogni funzionalità è stata pensata per convertire visitatori in clienti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651760" cy="4846320"/>
          </a:xfrm>
          <a:prstGeom prst="roundRect">
            <a:avLst/>
          </a:prstGeom>
          <a:solidFill>
            <a:srgbClr val="FDF9F0"/>
          </a:solidFill>
          <a:ln w="19050">
            <a:solidFill>
              <a:srgbClr val="A8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50"/>
                </a:solidFill>
                <a:latin typeface="Calibri"/>
              </a:defRPr>
            </a:pPr>
            <a:r>
              <a:t>🏠  9 Sezioni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B2E"/>
                </a:solidFill>
                <a:latin typeface="Calibri"/>
              </a:defRPr>
            </a:pPr>
            <a:r>
              <a:t>Hero con blob organico</a:t>
            </a:r>
            <a:br/>
            <a:r>
              <a:t>Storia timeline interattiva</a:t>
            </a:r>
            <a:br/>
            <a:r>
              <a:t>Filosofia con layout editoriale</a:t>
            </a:r>
            <a:br/>
            <a:r>
              <a:t>Servizi in griglia masonry</a:t>
            </a:r>
            <a:br/>
            <a:r>
              <a:t>Carosello prodotti</a:t>
            </a:r>
            <a:br/>
            <a:r>
              <a:t>Preparazioni su misura</a:t>
            </a:r>
            <a:br/>
            <a:r>
              <a:t>Contatti con form e orari</a:t>
            </a:r>
            <a:br/>
            <a:r>
              <a:t>Footer completo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54480"/>
            <a:ext cx="2651760" cy="4846320"/>
          </a:xfrm>
          <a:prstGeom prst="roundRect">
            <a:avLst/>
          </a:prstGeom>
          <a:solidFill>
            <a:srgbClr val="FDF9F0"/>
          </a:solidFill>
          <a:ln w="19050">
            <a:solidFill>
              <a:srgbClr val="A8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50"/>
                </a:solidFill>
                <a:latin typeface="Calibri"/>
              </a:defRPr>
            </a:pPr>
            <a:r>
              <a:t>🎨  Design Unico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37744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B2E"/>
                </a:solidFill>
                <a:latin typeface="Calibri"/>
              </a:defRPr>
            </a:pPr>
            <a:r>
              <a:t>Palette botanica esclusiva</a:t>
            </a:r>
            <a:br/>
            <a:r>
              <a:t>(cream, salvia, terracotta)</a:t>
            </a:r>
            <a:br/>
            <a:r>
              <a:t>Font premium Google Fonts</a:t>
            </a:r>
            <a:br/>
            <a:r>
              <a:t>SVG botaniche disegnate a mano</a:t>
            </a:r>
            <a:br/>
            <a:r>
              <a:t>Animazioni organiche clip-path</a:t>
            </a:r>
            <a:br/>
            <a:r>
              <a:t>Divisori onda tra sezioni</a:t>
            </a:r>
            <a:br/>
            <a:r>
              <a:t>Nessun altro sito è uguale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554480"/>
            <a:ext cx="2651760" cy="4846320"/>
          </a:xfrm>
          <a:prstGeom prst="roundRect">
            <a:avLst/>
          </a:prstGeom>
          <a:solidFill>
            <a:srgbClr val="FDF9F0"/>
          </a:solidFill>
          <a:ln w="19050">
            <a:solidFill>
              <a:srgbClr val="A8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39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50"/>
                </a:solidFill>
                <a:latin typeface="Calibri"/>
              </a:defRPr>
            </a:pPr>
            <a:r>
              <a:t>📱  Mobile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39" y="237744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B2E"/>
                </a:solidFill>
                <a:latin typeface="Calibri"/>
              </a:defRPr>
            </a:pPr>
            <a:r>
              <a:t>Menu mobile con overlay botanico</a:t>
            </a:r>
            <a:br/>
            <a:r>
              <a:t>Layout responsive su ogni device</a:t>
            </a:r>
            <a:br/>
            <a:r>
              <a:t>Touch-friendly (swipe, tap)</a:t>
            </a:r>
            <a:br/>
            <a:r>
              <a:t>Immagini ottimizzate</a:t>
            </a:r>
            <a:br/>
            <a:r>
              <a:t>Bottoni grandi e accessibili</a:t>
            </a:r>
            <a:br/>
            <a:r>
              <a:t>Testato su Chrome DevTools</a:t>
            </a:r>
            <a:br/>
            <a:r>
              <a:t>su tutti i breakpoint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19" y="1554480"/>
            <a:ext cx="2651760" cy="4846320"/>
          </a:xfrm>
          <a:prstGeom prst="roundRect">
            <a:avLst/>
          </a:prstGeom>
          <a:solidFill>
            <a:srgbClr val="FDF9F0"/>
          </a:solidFill>
          <a:ln w="19050">
            <a:solidFill>
              <a:srgbClr val="A8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599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50"/>
                </a:solidFill>
                <a:latin typeface="Calibri"/>
              </a:defRPr>
            </a:pPr>
            <a:r>
              <a:t>⚙️  Funzionalità Avanzate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599" y="237744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B2E"/>
                </a:solidFill>
                <a:latin typeface="Calibri"/>
              </a:defRPr>
            </a:pPr>
            <a:r>
              <a:t>Indicatore "Aperto/Chiuso" live</a:t>
            </a:r>
            <a:br/>
            <a:r>
              <a:t>WhatsApp click-to-chat</a:t>
            </a:r>
            <a:br/>
            <a:r>
              <a:t>Form contatto con floating labels</a:t>
            </a:r>
            <a:br/>
            <a:r>
              <a:t>Google Maps (GDPR compliant)</a:t>
            </a:r>
            <a:br/>
            <a:r>
              <a:t>Cookie consent con modal</a:t>
            </a:r>
            <a:br/>
            <a:r>
              <a:t>Schema.org per Google</a:t>
            </a:r>
            <a:br/>
            <a:r>
              <a:t>SEO meta tags + Open Graph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5C38"/>
                </a:solidFill>
                <a:latin typeface="Calibri"/>
              </a:defRPr>
            </a:pPr>
            <a:r>
              <a:t>Costi: WordPress vs Sito su misura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A6B5C"/>
                </a:solidFill>
                <a:latin typeface="Calibri"/>
              </a:defRPr>
            </a:pPr>
            <a:r>
              <a:t>Oltre al costo iniziale, WordPress ha costi nascosti che si accumulano anno dopo anno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0392B"/>
                </a:solidFill>
                <a:latin typeface="Calibri"/>
              </a:defRPr>
            </a:pPr>
            <a:r>
              <a:t>❌  WordPress — Costi annuali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C0392B"/>
                </a:solidFill>
              </a:rPr>
              <a:t>•  </a:t>
            </a:r>
            <a:r>
              <a:rPr sz="1300">
                <a:solidFill>
                  <a:srgbClr val="2D3B2E"/>
                </a:solidFill>
                <a:latin typeface="Calibri"/>
              </a:rPr>
              <a:t>Hosting WordPress:  120-360€/anno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0392B"/>
                </a:solidFill>
              </a:rPr>
              <a:t>•  </a:t>
            </a:r>
            <a:r>
              <a:rPr sz="1300">
                <a:solidFill>
                  <a:srgbClr val="2D3B2E"/>
                </a:solidFill>
                <a:latin typeface="Calibri"/>
              </a:rPr>
              <a:t>Tema premium:  50-80€/anno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0392B"/>
                </a:solidFill>
              </a:rPr>
              <a:t>•  </a:t>
            </a:r>
            <a:r>
              <a:rPr sz="1300">
                <a:solidFill>
                  <a:srgbClr val="2D3B2E"/>
                </a:solidFill>
                <a:latin typeface="Calibri"/>
              </a:rPr>
              <a:t>Plugin premium (SEO, cache, sicurezza):  100-300€/anno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0392B"/>
                </a:solidFill>
              </a:rPr>
              <a:t>•  </a:t>
            </a:r>
            <a:r>
              <a:rPr sz="1300">
                <a:solidFill>
                  <a:srgbClr val="2D3B2E"/>
                </a:solidFill>
                <a:latin typeface="Calibri"/>
              </a:rPr>
              <a:t>Certificato SSL:  0-50€/anno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0392B"/>
                </a:solidFill>
              </a:rPr>
              <a:t>•  </a:t>
            </a:r>
            <a:r>
              <a:rPr sz="1300">
                <a:solidFill>
                  <a:srgbClr val="2D3B2E"/>
                </a:solidFill>
                <a:latin typeface="Calibri"/>
              </a:rPr>
              <a:t>Manutenzione/aggiornamenti:  200-500€/anno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0392B"/>
                </a:solidFill>
              </a:rPr>
              <a:t>•  </a:t>
            </a:r>
            <a:r>
              <a:rPr sz="1300">
                <a:solidFill>
                  <a:srgbClr val="2D3B2E"/>
                </a:solidFill>
                <a:latin typeface="Calibri"/>
              </a:rPr>
              <a:t>Backup e sicurezza:  50-150€/anno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0392B"/>
                </a:solidFill>
              </a:rPr>
              <a:t>•  </a:t>
            </a:r>
            <a:r>
              <a:rPr sz="1300">
                <a:solidFill>
                  <a:srgbClr val="2D3B2E"/>
                </a:solidFill>
                <a:latin typeface="Calibri"/>
              </a:rPr>
              <a:t>Fixing problemi/incompatibilità:  imprevisto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577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0392B"/>
                </a:solidFill>
                <a:latin typeface="Calibri"/>
              </a:defRPr>
            </a:pPr>
            <a:r>
              <a:t>Totale:  520 - 1.440€/anno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7D50"/>
                </a:solidFill>
                <a:latin typeface="Calibri"/>
              </a:defRPr>
            </a:pPr>
            <a:r>
              <a:t>✅  Sito su misura — Costi annuali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2E7D50"/>
                </a:solidFill>
              </a:rPr>
              <a:t>✓  </a:t>
            </a:r>
            <a:r>
              <a:rPr sz="1300">
                <a:solidFill>
                  <a:srgbClr val="2D3B2E"/>
                </a:solidFill>
                <a:latin typeface="Calibri"/>
              </a:rPr>
              <a:t>Hosting (GitHub Pages):  GRATIS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E7D50"/>
                </a:solidFill>
              </a:rPr>
              <a:t>✓  </a:t>
            </a:r>
            <a:r>
              <a:rPr sz="1300">
                <a:solidFill>
                  <a:srgbClr val="2D3B2E"/>
                </a:solidFill>
                <a:latin typeface="Calibri"/>
              </a:rPr>
              <a:t>Tema/plugin:  NON SERVONO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E7D50"/>
                </a:solidFill>
              </a:rPr>
              <a:t>✓  </a:t>
            </a:r>
            <a:r>
              <a:rPr sz="1300">
                <a:solidFill>
                  <a:srgbClr val="2D3B2E"/>
                </a:solidFill>
                <a:latin typeface="Calibri"/>
              </a:rPr>
              <a:t>Certificato SSL:  INCLUSO (gratis)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E7D50"/>
                </a:solidFill>
              </a:rPr>
              <a:t>✓  </a:t>
            </a:r>
            <a:r>
              <a:rPr sz="1300">
                <a:solidFill>
                  <a:srgbClr val="2D3B2E"/>
                </a:solidFill>
                <a:latin typeface="Calibri"/>
              </a:rPr>
              <a:t>Manutenzione:  MINIMA (nessun aggiornamento)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E7D50"/>
                </a:solidFill>
              </a:rPr>
              <a:t>✓  </a:t>
            </a:r>
            <a:r>
              <a:rPr sz="1300">
                <a:solidFill>
                  <a:srgbClr val="2D3B2E"/>
                </a:solidFill>
                <a:latin typeface="Calibri"/>
              </a:rPr>
              <a:t>Sicurezza:  NATIVA (nessun database)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E7D50"/>
                </a:solidFill>
              </a:rPr>
              <a:t>✓  </a:t>
            </a:r>
            <a:r>
              <a:rPr sz="1300">
                <a:solidFill>
                  <a:srgbClr val="2D3B2E"/>
                </a:solidFill>
                <a:latin typeface="Calibri"/>
              </a:rPr>
              <a:t>Dominio personalizzato:  10-15€/anno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2E7D50"/>
                </a:solidFill>
              </a:rPr>
              <a:t>✓  </a:t>
            </a:r>
            <a:r>
              <a:rPr sz="1300">
                <a:solidFill>
                  <a:srgbClr val="2D3B2E"/>
                </a:solidFill>
                <a:latin typeface="Calibri"/>
              </a:rPr>
              <a:t>Modifiche contenuti:  su richiesta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5778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7D50"/>
                </a:solidFill>
                <a:latin typeface="Calibri"/>
              </a:defRPr>
            </a:pPr>
            <a:r>
              <a:t>Totale:  10 - 15€/anno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5C38"/>
                </a:solidFill>
                <a:latin typeface="Calibri"/>
              </a:defRPr>
            </a:pPr>
            <a:r>
              <a:t>GDPR, Privacy e Conformità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A6B5C"/>
                </a:solidFill>
                <a:latin typeface="Calibri"/>
              </a:defRPr>
            </a:pPr>
            <a:r>
              <a:t>Il sito Herbora è conforme al GDPR fin dalla progettazione (Privacy by Design)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2194560"/>
          </a:xfrm>
          <a:prstGeom prst="roundRect">
            <a:avLst/>
          </a:prstGeom>
          <a:solidFill>
            <a:srgbClr val="FDF9F0"/>
          </a:solidFill>
          <a:ln w="19050">
            <a:solidFill>
              <a:srgbClr val="A8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E7D50"/>
                </a:solidFill>
                <a:latin typeface="Calibri"/>
              </a:defRPr>
            </a:pPr>
            <a:r>
              <a:t>🍪  Cookie Consent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B2E"/>
                </a:solidFill>
                <a:latin typeface="Calibri"/>
              </a:defRPr>
            </a:pPr>
            <a:r>
              <a:t>Banner GDPR con 3 opzioni:</a:t>
            </a:r>
            <a:br/>
            <a:r>
              <a:t>Accetta tutti / Solo necessari / Personalizza</a:t>
            </a:r>
            <a:br/>
            <a:r>
              <a:t>Modal dettagliato per categoria</a:t>
            </a:r>
            <a:br/>
            <a:r>
              <a:t>Preferenze salvate per 6 mesi</a:t>
            </a:r>
            <a:br/>
            <a:r>
              <a:t>Nessun cookie caricato senza consenso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03520" cy="2194560"/>
          </a:xfrm>
          <a:prstGeom prst="roundRect">
            <a:avLst/>
          </a:prstGeom>
          <a:solidFill>
            <a:srgbClr val="FDF9F0"/>
          </a:solidFill>
          <a:ln w="19050">
            <a:solidFill>
              <a:srgbClr val="A8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E7D50"/>
                </a:solidFill>
                <a:latin typeface="Calibri"/>
              </a:defRPr>
            </a:pPr>
            <a:r>
              <a:t>🗺️  Google Maps condizionale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B2E"/>
                </a:solidFill>
                <a:latin typeface="Calibri"/>
              </a:defRPr>
            </a:pPr>
            <a:r>
              <a:t>La mappa si carica SOLO se l'utente</a:t>
            </a:r>
            <a:br/>
            <a:r>
              <a:t>accetta i cookie di terze parti.</a:t>
            </a:r>
            <a:br/>
            <a:r>
              <a:t>In caso contrario, viene mostrato un</a:t>
            </a:r>
            <a:br/>
            <a:r>
              <a:t>placeholder con link diretto a Google Maps.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114800"/>
            <a:ext cx="5303520" cy="2194560"/>
          </a:xfrm>
          <a:prstGeom prst="roundRect">
            <a:avLst/>
          </a:prstGeom>
          <a:solidFill>
            <a:srgbClr val="FDF9F0"/>
          </a:solidFill>
          <a:ln w="19050">
            <a:solidFill>
              <a:srgbClr val="A8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E7D50"/>
                </a:solidFill>
                <a:latin typeface="Calibri"/>
              </a:defRPr>
            </a:pPr>
            <a:r>
              <a:t>📋  Pagine legali complete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B2E"/>
                </a:solidFill>
                <a:latin typeface="Calibri"/>
              </a:defRPr>
            </a:pPr>
            <a:r>
              <a:t>Privacy Policy completa</a:t>
            </a:r>
            <a:br/>
            <a:r>
              <a:t>(titolare, finalità, diritti, terze parti)</a:t>
            </a:r>
            <a:br/>
            <a:r>
              <a:t>Cookie Policy dettagliata</a:t>
            </a:r>
            <a:br/>
            <a:r>
              <a:t>con tabella cookie utilizzati</a:t>
            </a:r>
            <a:br/>
            <a:r>
              <a:t>Link ai browser per gestione cookie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114800"/>
            <a:ext cx="5303520" cy="2194560"/>
          </a:xfrm>
          <a:prstGeom prst="roundRect">
            <a:avLst/>
          </a:prstGeom>
          <a:solidFill>
            <a:srgbClr val="FDF9F0"/>
          </a:solidFill>
          <a:ln w="19050">
            <a:solidFill>
              <a:srgbClr val="A8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2E7D50"/>
                </a:solidFill>
                <a:latin typeface="Calibri"/>
              </a:defRPr>
            </a:pPr>
            <a:r>
              <a:t>🔒  Sicurezza nativa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8463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3B2E"/>
                </a:solidFill>
                <a:latin typeface="Calibri"/>
              </a:defRPr>
            </a:pPr>
            <a:r>
              <a:t>Nessun database = nessun data breach</a:t>
            </a:r>
            <a:br/>
            <a:r>
              <a:t>Nessun form di login admin</a:t>
            </a:r>
            <a:br/>
            <a:r>
              <a:t>Dati form inviati via FormSubmit</a:t>
            </a:r>
            <a:br/>
            <a:r>
              <a:t>(nessun dato salvato sul server)</a:t>
            </a:r>
            <a:br/>
            <a:r>
              <a:t>HTTPS forzato su GitHub Pages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5A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47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Perché scegliere il sito su misura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8C5A0"/>
                </a:solidFill>
                <a:latin typeface="Calibri"/>
              </a:defRPr>
            </a:pPr>
            <a:r>
              <a:t>Tutti i vantaggi in sintesi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A8C5A0"/>
                </a:solidFill>
              </a:rPr>
              <a:t>✓  </a:t>
            </a:r>
            <a:r>
              <a:rPr sz="1700">
                <a:solidFill>
                  <a:srgbClr val="FFFFFF"/>
                </a:solidFill>
                <a:latin typeface="Calibri"/>
              </a:rPr>
              <a:t>Velocità superiore: caricamento in meno di 1 secondo (vs 4-8 sec WordPress)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A8C5A0"/>
                </a:solidFill>
              </a:rPr>
              <a:t>✓  </a:t>
            </a:r>
            <a:r>
              <a:rPr sz="1700">
                <a:solidFill>
                  <a:srgbClr val="FFFFFF"/>
                </a:solidFill>
                <a:latin typeface="Calibri"/>
              </a:rPr>
              <a:t>Sicurezza totale: nessun database, nessun plugin, nessuna vulnerabilità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A8C5A0"/>
                </a:solidFill>
              </a:rPr>
              <a:t>✓  </a:t>
            </a:r>
            <a:r>
              <a:rPr sz="1700">
                <a:solidFill>
                  <a:srgbClr val="FFFFFF"/>
                </a:solidFill>
                <a:latin typeface="Calibri"/>
              </a:rPr>
              <a:t>Design esclusivo: un sito che rappresenta davvero l'identità di Herbora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A8C5A0"/>
                </a:solidFill>
              </a:rPr>
              <a:t>✓  </a:t>
            </a:r>
            <a:r>
              <a:rPr sz="1700">
                <a:solidFill>
                  <a:srgbClr val="FFFFFF"/>
                </a:solidFill>
                <a:latin typeface="Calibri"/>
              </a:rPr>
              <a:t>SEO ottimizzato: codice pulito, Schema.org, meta tags = più visibilità su Google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A8C5A0"/>
                </a:solidFill>
              </a:rPr>
              <a:t>✓  </a:t>
            </a:r>
            <a:r>
              <a:rPr sz="1700">
                <a:solidFill>
                  <a:srgbClr val="FFFFFF"/>
                </a:solidFill>
                <a:latin typeface="Calibri"/>
              </a:rPr>
              <a:t>Zero manutenzione: nessun aggiornamento, nessun rischio di rotture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A8C5A0"/>
                </a:solidFill>
              </a:rPr>
              <a:t>✓  </a:t>
            </a:r>
            <a:r>
              <a:rPr sz="1700">
                <a:solidFill>
                  <a:srgbClr val="FFFFFF"/>
                </a:solidFill>
                <a:latin typeface="Calibri"/>
              </a:rPr>
              <a:t>Costi minimi: 10-15€/anno vs 500-1.400€/anno di WordPress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A8C5A0"/>
                </a:solidFill>
              </a:rPr>
              <a:t>✓  </a:t>
            </a:r>
            <a:r>
              <a:rPr sz="1700">
                <a:solidFill>
                  <a:srgbClr val="FFFFFF"/>
                </a:solidFill>
                <a:latin typeface="Calibri"/>
              </a:rPr>
              <a:t>GDPR nativo: cookie consent, privacy policy, tutto integrato e a norma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A8C5A0"/>
                </a:solidFill>
              </a:rPr>
              <a:t>✓  </a:t>
            </a:r>
            <a:r>
              <a:rPr sz="1700">
                <a:solidFill>
                  <a:srgbClr val="FFFFFF"/>
                </a:solidFill>
                <a:latin typeface="Calibri"/>
              </a:rPr>
              <a:t>Mobile perfetto: responsive nativo, testato su ogni dispositivo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A8C5A0"/>
                </a:solidFill>
              </a:rPr>
              <a:t>✓  </a:t>
            </a:r>
            <a:r>
              <a:rPr sz="1700">
                <a:solidFill>
                  <a:srgbClr val="FFFFFF"/>
                </a:solidFill>
                <a:latin typeface="Calibri"/>
              </a:rPr>
              <a:t>WhatsApp integrato: i clienti ti contattano con un tap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A8C5A0"/>
                </a:solidFill>
              </a:rPr>
              <a:t>✓  </a:t>
            </a:r>
            <a:r>
              <a:rPr sz="1700">
                <a:solidFill>
                  <a:srgbClr val="FFFFFF"/>
                </a:solidFill>
                <a:latin typeface="Calibri"/>
              </a:rPr>
              <a:t>Proprietà totale: il codice è tuo, nessuna dipendenza da terzi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D5C38"/>
                </a:solidFill>
                <a:latin typeface="Calibri"/>
              </a:defRPr>
            </a:pPr>
            <a:r>
              <a:t>Il tuo sito è online e pronto.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4724A"/>
                </a:solidFill>
                <a:latin typeface="Calibri"/>
              </a:defRPr>
            </a:pPr>
            <a:r>
              <a:t>enrix84.github.io/herbora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91840"/>
            <a:ext cx="2103120" cy="36576"/>
          </a:xfrm>
          <a:prstGeom prst="rect">
            <a:avLst/>
          </a:prstGeom>
          <a:solidFill>
            <a:srgbClr val="A8C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A6B5C"/>
                </a:solidFill>
                <a:latin typeface="Calibri"/>
              </a:defRPr>
            </a:pPr>
            <a:r>
              <a:t>Sviluppato 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D5C38"/>
                </a:solidFill>
                <a:latin typeface="Calibri"/>
              </a:defRPr>
            </a:pPr>
            <a:r>
              <a:t>Enrico Maria Caruso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8C5A0"/>
                </a:solidFill>
                <a:latin typeface="Calibri"/>
              </a:defRPr>
            </a:pPr>
            <a:r>
              <a:t>Full Stack Developer — enricomariacaruso.it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